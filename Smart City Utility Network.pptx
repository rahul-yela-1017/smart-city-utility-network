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838825"/>
            <a:ext cx="10972800" cy="47625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77225" y="561975"/>
            <a:ext cx="1247775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39300" y="561975"/>
            <a:ext cx="1943100" cy="28575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484637"/>
            <a:ext cx="6297959" cy="7334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84637"/>
            <a:ext cx="38100" cy="733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59" y="1938337"/>
            <a:ext cx="4217640" cy="304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3340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284" y="1947862"/>
            <a:ext cx="4198590" cy="3028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" y="619125"/>
            <a:ext cx="21907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34650" y="5991225"/>
            <a:ext cx="1104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01 /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604837"/>
            <a:ext cx="3012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SMART CITY UTILITY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0575" y="619125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Plus Jakarta Sans"/>
              </a:rPr>
              <a:t>DAA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619125"/>
            <a:ext cx="1771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Electricity • Water • Roads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706463"/>
            <a:ext cx="78724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HACKATHON FINALIST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001738"/>
            <a:ext cx="6712870" cy="1511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pace Grotesk"/>
              </a:rPr>
              <a:t>Optimizing Urban Infrastructure Through Intelligent Graph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703587"/>
            <a:ext cx="639320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graph-based decision-support system identifying minimum-cost connections, optimal routes, and isolated city regions in real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991225"/>
            <a:ext cx="1390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TEAM MEMBERS: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1700" y="5991225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T. Rishikesh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4675" y="5991225"/>
            <a:ext cx="7715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Y. Rahul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9050" y="5991225"/>
            <a:ext cx="8763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K. Suresh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200" y="5991225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S. Vedasagar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637037"/>
            <a:ext cx="73485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CORE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865637"/>
            <a:ext cx="73485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Automated Graph Optimization for Sustainable Urban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862137"/>
            <a:ext cx="53340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071812"/>
            <a:ext cx="53340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281487"/>
            <a:ext cx="53340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48400" y="1657350"/>
            <a:ext cx="2571750" cy="1847850"/>
          </a:xfrm>
          <a:prstGeom prst="roundRect">
            <a:avLst>
              <a:gd name="adj" fmla="val 8247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10650" y="1657350"/>
            <a:ext cx="2571750" cy="1847850"/>
          </a:xfrm>
          <a:prstGeom prst="roundRect">
            <a:avLst>
              <a:gd name="adj" fmla="val 824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48400" y="3695700"/>
            <a:ext cx="2571750" cy="1847850"/>
          </a:xfrm>
          <a:prstGeom prst="roundRect">
            <a:avLst>
              <a:gd name="adj" fmla="val 8247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10650" y="3695700"/>
            <a:ext cx="257175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1862137"/>
            <a:ext cx="38100" cy="1057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071812"/>
            <a:ext cx="38100" cy="10572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281487"/>
            <a:ext cx="38100" cy="1057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75" y="193357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1933575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3971925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925" y="3971925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025" y="2066925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1275" y="2066925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737" y="4105275"/>
            <a:ext cx="2190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1275" y="4105275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Urban Infrastructure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143625"/>
            <a:ext cx="3559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Smart City Utility Network • Problem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143625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02 /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052637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Capital Inefficiency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328862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Infrastructure projects require massive capital investment; redundant cabling and piping inflate budgets.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62312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Isolated Regions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538537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Poor routing leaves fringe residential and industrial zones disconnected from key utility backbones.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471987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Manual Bottlenecks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748212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Traditional planning methods fail when scaling to thousands of interconnected junctions and nodes.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9103" y="25431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91B1B"/>
                </a:solidFill>
                <a:latin typeface="Space Grotesk"/>
              </a:rPr>
              <a:t>Excessive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4587" y="2867025"/>
            <a:ext cx="26193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7F1D1D"/>
                </a:solidFill>
                <a:latin typeface="Plus Jakarta Sans"/>
              </a:rPr>
              <a:t>Unnecessary connections increase material expenses.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1353" y="25431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2400E"/>
                </a:solidFill>
                <a:latin typeface="Space Grotesk"/>
              </a:rPr>
              <a:t>Long Routes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6837" y="2867025"/>
            <a:ext cx="26193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78350F"/>
                </a:solidFill>
                <a:latin typeface="Plus Jakarta Sans"/>
              </a:rPr>
              <a:t>Suboptimal paths increase transmission loss.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9103" y="458152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40AF"/>
                </a:solidFill>
                <a:latin typeface="Space Grotesk"/>
              </a:rPr>
              <a:t>Poor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4587" y="4905375"/>
            <a:ext cx="26193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3A8A"/>
                </a:solidFill>
                <a:latin typeface="Plus Jakarta Sans"/>
              </a:rPr>
              <a:t>Crucial regions remain vulnerable to outages.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1353" y="458152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Space Grotesk"/>
              </a:rPr>
              <a:t>Vulnerability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6837" y="4905375"/>
            <a:ext cx="26193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Plus Jakarta Sans"/>
              </a:rPr>
              <a:t>Single point of failure disruptions across 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933575"/>
            <a:ext cx="5856982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81525"/>
            <a:ext cx="5856982" cy="6858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105150"/>
            <a:ext cx="2852291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4291" y="3105150"/>
            <a:ext cx="2852291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382" y="2076450"/>
            <a:ext cx="4811017" cy="304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07" y="2085975"/>
            <a:ext cx="4791967" cy="3028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21456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29175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338387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305175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4316" y="3305175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One Platform. Three Algorithms. One Smart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436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Smart City Utility Network • Platform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4675" y="6143625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03 /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4743450"/>
            <a:ext cx="529500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Plus Jakarta Sans"/>
              </a:rPr>
              <a:t>We don't just show final output — we visually trace every algorithmic decision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425" y="2133600"/>
            <a:ext cx="62121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Graph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5425" y="2390775"/>
            <a:ext cx="48282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Nodes = Buildings &amp; Area Junctions | Edges = Roads, Pipes &amp; Power | Weights = Construction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629025"/>
            <a:ext cx="32185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Interactive City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886200"/>
            <a:ext cx="25474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Dynamic spatial visualizer built with Leaflet for real-time inspection.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4316" y="3629025"/>
            <a:ext cx="32185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Cost &amp; Connectivity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4316" y="3886200"/>
            <a:ext cx="25474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step-by-step decision auditing for municipal planners.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90987"/>
            <a:ext cx="10972800" cy="8382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271712"/>
            <a:ext cx="18669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6075" y="2357437"/>
            <a:ext cx="186690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2550" y="2357437"/>
            <a:ext cx="1866900" cy="1419225"/>
          </a:xfrm>
          <a:prstGeom prst="roundRect">
            <a:avLst>
              <a:gd name="adj" fmla="val 80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39025" y="2357437"/>
            <a:ext cx="186690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15500" y="2357437"/>
            <a:ext cx="1866900" cy="1419225"/>
          </a:xfrm>
          <a:prstGeom prst="roundRect">
            <a:avLst>
              <a:gd name="adj" fmla="val 805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90650" y="24717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67125" y="2557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0" y="2557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0075" y="2557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96550" y="2557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981325"/>
            <a:ext cx="1047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5" y="2981325"/>
            <a:ext cx="1047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2981325"/>
            <a:ext cx="1047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5" y="2981325"/>
            <a:ext cx="1047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723" y="4452937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723" y="4452937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72" y="4452937"/>
            <a:ext cx="1047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968" y="4452937"/>
            <a:ext cx="10477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225" y="4433887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798" y="4433887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1798" y="4433887"/>
            <a:ext cx="1905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3847" y="4433887"/>
            <a:ext cx="1714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043" y="4433887"/>
            <a:ext cx="17145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OPERATIONAL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System Workflow &amp; End-to-End User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143625"/>
            <a:ext cx="3893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Smart City Utility Network • Process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34675" y="6143625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04 /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419600"/>
            <a:ext cx="1666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USER JOURNEY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7775" y="24717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429" y="289083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USER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268" y="314801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City Nodes + Cable/Pipe Connections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4250" y="2557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6904" y="2976562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GRAPH CREATION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2743" y="3233737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Adjacency Matrix &amp; Distance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0725" y="2557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3379" y="2976562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Plus Jakarta Sans"/>
              </a:rPr>
              <a:t>GRAPH ENGINES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9218" y="3233737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15803D"/>
                </a:solidFill>
                <a:latin typeface="Plus Jakarta Sans"/>
              </a:rPr>
              <a:t>MST | Dijkstra | 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7200" y="2557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9854" y="2976562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COMPUTATION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5693" y="3233737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Min Cost + Routes + Isolated Zones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3675" y="2557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6329" y="2976562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40AF"/>
                </a:solidFill>
                <a:latin typeface="Plus Jakarta Sans"/>
              </a:rP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2168" y="3233737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1E3A8A"/>
                </a:solidFill>
                <a:latin typeface="Plus Jakarta Sans"/>
              </a:rPr>
              <a:t>Cost + Route + Vulnerability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09825" y="4329112"/>
            <a:ext cx="111784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1. Select Utility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94398" y="4329112"/>
            <a:ext cx="18192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2. Enter/Upload Network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8498" y="4329112"/>
            <a:ext cx="112722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3. Run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1497" y="4329112"/>
            <a:ext cx="170542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4. View Interactive 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22693" y="4329112"/>
            <a:ext cx="131683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5. Inspect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83759" y="1409700"/>
            <a:ext cx="4598640" cy="438150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1876425"/>
            <a:ext cx="606935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076575"/>
            <a:ext cx="606935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276725"/>
            <a:ext cx="606935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59984" y="2047875"/>
            <a:ext cx="404619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914650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1876425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1876425"/>
            <a:ext cx="38100" cy="1047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69434" y="1876425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114800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3076575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076575"/>
            <a:ext cx="38100" cy="10477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69434" y="3076575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5314950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4276725"/>
            <a:ext cx="60693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4276725"/>
            <a:ext cx="38100" cy="1047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69434" y="4276725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40684" y="2076450"/>
            <a:ext cx="123825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64409" y="3276600"/>
            <a:ext cx="1914525" cy="228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231159" y="4476750"/>
            <a:ext cx="1247775" cy="22860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984" y="2895600"/>
            <a:ext cx="381000" cy="381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984" y="3429000"/>
            <a:ext cx="381000" cy="381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84" y="3962400"/>
            <a:ext cx="381000" cy="3810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984" y="4495800"/>
            <a:ext cx="381000" cy="3810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759" y="3000375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5234" y="3533775"/>
            <a:ext cx="1905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4284" y="4067175"/>
            <a:ext cx="1524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4284" y="4600575"/>
            <a:ext cx="15240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ALGORITHMIC RIGOR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Technology Stack &amp; Core Graph Algorithms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143625"/>
            <a:ext cx="3726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Smart City Utility Network • Algorithms &amp;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34675" y="6143625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05 /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9984" y="1685925"/>
            <a:ext cx="43485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2362200"/>
            <a:ext cx="57359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Connects all city nodes at absolute minimum total infrastructure cost without redundant loops.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562350"/>
            <a:ext cx="57359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Calculates least-cost transmission and shortest physical travel paths between any two junctions.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62500"/>
            <a:ext cx="57359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Detects isolated, unserviced, or vulnerable urban sub-graphs requiring urgent grid extension.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2081212"/>
            <a:ext cx="32754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Minimum Spanning Tree (MST)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5934" y="2114550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Kruskal O(E log 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3281362"/>
            <a:ext cx="23752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Dijkstra Shortest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9659" y="3314700"/>
            <a:ext cx="1819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Priority Queue O((V+E) log V)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481512"/>
            <a:ext cx="261282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Connected Components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6409" y="4514850"/>
            <a:ext cx="1152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Plus Jakarta Sans"/>
              </a:rPr>
              <a:t>BFS / DFS O(V+E)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3384" y="2900362"/>
            <a:ext cx="1690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3384" y="3100387"/>
            <a:ext cx="1690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React.js Interactive UI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3384" y="3433762"/>
            <a:ext cx="2226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Map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3384" y="3633787"/>
            <a:ext cx="2226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Leaflet Geospatial Renderer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3384" y="3967162"/>
            <a:ext cx="2345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Backend Engine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3384" y="4167187"/>
            <a:ext cx="2345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Python Network Analysis 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3384" y="4500562"/>
            <a:ext cx="2166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Data Interface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3384" y="4700587"/>
            <a:ext cx="216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JSON / CSV Utilities Schema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90432" y="2195512"/>
            <a:ext cx="4791967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90432" y="4014787"/>
            <a:ext cx="2338833" cy="438150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43566" y="4014787"/>
            <a:ext cx="2338833" cy="438150"/>
          </a:xfrm>
          <a:prstGeom prst="roundRect">
            <a:avLst>
              <a:gd name="adj" fmla="val 2173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90432" y="4567237"/>
            <a:ext cx="2338833" cy="438150"/>
          </a:xfrm>
          <a:prstGeom prst="roundRect">
            <a:avLst>
              <a:gd name="adj" fmla="val 2173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43566" y="4567237"/>
            <a:ext cx="2338833" cy="438150"/>
          </a:xfrm>
          <a:prstGeom prst="roundRect">
            <a:avLst>
              <a:gd name="adj" fmla="val 21739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1200"/>
            <a:ext cx="5876032" cy="3238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90725"/>
            <a:ext cx="5856982" cy="3219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782" y="4148137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6916" y="4148137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3782" y="4700587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6916" y="4700587"/>
            <a:ext cx="1905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PRACTICAL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Interactive Dashboard Demo &amp; Analytical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43625"/>
            <a:ext cx="4333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Smart City Utility Network • Demo &amp; Quantified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143625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SLIDE 06 /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8557" y="2395537"/>
            <a:ext cx="516344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SAMPLE EXECUTION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9532" y="4148137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Lower Capital Expenditure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3616" y="4148137"/>
            <a:ext cx="2059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Guaranteed 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1432" y="4700587"/>
            <a:ext cx="185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Instant Decision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2666" y="4700587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D28D9"/>
                </a:solidFill>
                <a:latin typeface="Plus Jakarta Sans"/>
              </a:rPr>
              <a:t>Explainable Graph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8557" y="2624137"/>
            <a:ext cx="260207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Plus Jakarta Sans"/>
              </a:rPr>
              <a:t>20 Nodes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8557" y="2957512"/>
            <a:ext cx="260207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32 Infrastructure Edges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616" y="2624137"/>
            <a:ext cx="260207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59669"/>
                </a:solidFill>
                <a:latin typeface="Plus Jakarta Sans"/>
              </a:rPr>
              <a:t>₹8.4 Lakhs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616" y="2957512"/>
            <a:ext cx="260207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Optimized MST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8557" y="3262312"/>
            <a:ext cx="260207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 → C → F →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8557" y="3509962"/>
            <a:ext cx="260207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Shortest Route (₹1.8L)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616" y="3262312"/>
            <a:ext cx="260207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Plus Jakarta Sans"/>
              </a:rPr>
              <a:t>2 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616" y="3500437"/>
            <a:ext cx="260207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Vulnerable: Zone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753100"/>
            <a:ext cx="10972800" cy="561975"/>
          </a:xfrm>
          <a:prstGeom prst="roundRect">
            <a:avLst>
              <a:gd name="adj" fmla="val 203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919287"/>
            <a:ext cx="638934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205162"/>
            <a:ext cx="3118395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0395" y="3205162"/>
            <a:ext cx="3118544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205287"/>
            <a:ext cx="3118395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80395" y="4205287"/>
            <a:ext cx="3118544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2386012"/>
            <a:ext cx="1292572" cy="428625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87947" y="2386012"/>
            <a:ext cx="1292572" cy="428625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28169" y="2386012"/>
            <a:ext cx="1292572" cy="428625"/>
          </a:xfrm>
          <a:prstGeom prst="roundRect">
            <a:avLst>
              <a:gd name="adj" fmla="val 22222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68391" y="2386012"/>
            <a:ext cx="1292572" cy="428625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40" y="1962150"/>
            <a:ext cx="4278659" cy="3048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265" y="1971675"/>
            <a:ext cx="4259609" cy="3028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497" y="2524125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719" y="2524125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941" y="2524125"/>
            <a:ext cx="952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395662"/>
            <a:ext cx="1809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2320" y="3395662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395787"/>
            <a:ext cx="1619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2320" y="4395787"/>
            <a:ext cx="1428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LOOKING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Future Roadmap &amp; Strategic 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5924550"/>
            <a:ext cx="5857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“Connect smarter. Travel efficiently. Build better cities.”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3125" y="5943600"/>
            <a:ext cx="194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THANK YOU • Q &amp;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2119312"/>
            <a:ext cx="73913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DEPLOYMENT SCALABILITY SPECTRUM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53" y="2500312"/>
            <a:ext cx="1310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Plus Jakarta Sans"/>
              </a:rPr>
              <a:t>Campus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8775" y="2500312"/>
            <a:ext cx="1310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Plus Jakarta Sans"/>
              </a:rPr>
              <a:t>Municipality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8997" y="2500312"/>
            <a:ext cx="1310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Plus Jakarta Sans"/>
              </a:rPr>
              <a:t>Metropolis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9220" y="2500312"/>
            <a:ext cx="1310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Smart Region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3367087"/>
            <a:ext cx="3667841" cy="18097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Real-Time IoT Streams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3586162"/>
            <a:ext cx="288979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Live traffic congestion and dynamic utility load updates.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2320" y="3367087"/>
            <a:ext cx="3668036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AI Demand Forecasting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2320" y="3586162"/>
            <a:ext cx="288994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Predictive outage analysis and growth capacity planning.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525" y="4367212"/>
            <a:ext cx="3667841" cy="1809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GIS Map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25" y="4586287"/>
            <a:ext cx="288979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Seamless sync with municipal spatial GIS datasets.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2320" y="4367212"/>
            <a:ext cx="3668036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Failure Risk 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2320" y="4586287"/>
            <a:ext cx="288994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Automated backup route calculation during disruptions.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409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242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047750"/>
            <a:ext cx="7191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https://visionfinland.com/wp-content/uploads/2025/12/03-Digital-Twin-Infographics-01.webp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247775"/>
            <a:ext cx="233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visionfinland.com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819275"/>
            <a:ext cx="5679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https://www.yfiles.com/_astro/graph-aggregation.D9Eh-gAD_Z2r066f.png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019300"/>
            <a:ext cx="2202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www.yfiles.com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590800"/>
            <a:ext cx="7703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https://cdn.dribbble.com/userupload/43376733/file/still-9d267de20d6c1baf8e708c327c227e5e.png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790825"/>
            <a:ext cx="2012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dribbble.com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362325"/>
            <a:ext cx="8179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https://swissnex.org/app/uploads/sites/10/2025/05/ZSH_7839-opq3592362277-1200x628-c-default.jpg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3562350"/>
            <a:ext cx="191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swissnex.org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693</Words>
  <Application>Microsoft Office PowerPoint</Application>
  <PresentationFormat>Widescreen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Space Grotesk</vt:lpstr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Gaint Elephant</cp:lastModifiedBy>
  <cp:revision>1</cp:revision>
  <dcterms:created xsi:type="dcterms:W3CDTF">2013-01-27T09:14:16Z</dcterms:created>
  <dcterms:modified xsi:type="dcterms:W3CDTF">2026-10-03T08:31:01Z</dcterms:modified>
  <cp:category/>
</cp:coreProperties>
</file>